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الحالة</c:v>
                </c:pt>
              </c:strCache>
            </c:strRef>
          </c:tx>
          <c:spPr>
            <a:solidFill>
              <a:srgbClr val="0b3c5d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e9e6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64545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6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6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نجاح</c:v>
                </c:pt>
                <c:pt idx="1">
                  <c:v>رسوب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77389</c:v>
                </c:pt>
                <c:pt idx="1">
                  <c:v>22611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400" b="0" u="none" strike="noStrike">
              <a:solidFill>
                <a:srgbClr val="12263a"/>
              </a:solidFill>
              <a:uFillTx/>
              <a:latin typeface="Arial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نسبة الطلاب في كل فئة درجات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العام السابق</c:v>
                </c:pt>
              </c:strCache>
            </c:strRef>
          </c:tx>
          <c:spPr>
            <a:solidFill>
              <a:srgbClr val="5b6b7a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0–20</c:v>
                </c:pt>
                <c:pt idx="1">
                  <c:v>20–40</c:v>
                </c:pt>
                <c:pt idx="2">
                  <c:v>40–60</c:v>
                </c:pt>
                <c:pt idx="3">
                  <c:v>60–80</c:v>
                </c:pt>
                <c:pt idx="4">
                  <c:v>80–100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</c:v>
                </c:pt>
                <c:pt idx="1">
                  <c:v>0.46</c:v>
                </c:pt>
                <c:pt idx="2">
                  <c:v>19.73</c:v>
                </c:pt>
                <c:pt idx="3">
                  <c:v>61.91</c:v>
                </c:pt>
                <c:pt idx="4">
                  <c:v>17.48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العام الحالي</c:v>
                </c:pt>
              </c:strCache>
            </c:strRef>
          </c:tx>
          <c:spPr>
            <a:solidFill>
              <a:srgbClr val="f2a541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0–20</c:v>
                </c:pt>
                <c:pt idx="1">
                  <c:v>20–40</c:v>
                </c:pt>
                <c:pt idx="2">
                  <c:v>40–60</c:v>
                </c:pt>
                <c:pt idx="3">
                  <c:v>60–80</c:v>
                </c:pt>
                <c:pt idx="4">
                  <c:v>80–100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0.45</c:v>
                </c:pt>
                <c:pt idx="1">
                  <c:v>7.84</c:v>
                </c:pt>
                <c:pt idx="2">
                  <c:v>36.83</c:v>
                </c:pt>
                <c:pt idx="3">
                  <c:v>42</c:v>
                </c:pt>
                <c:pt idx="4">
                  <c:v>11.95</c:v>
                </c:pt>
              </c:numCache>
            </c:numRef>
          </c:val>
        </c:ser>
        <c:gapWidth val="60"/>
        <c:overlap val="0"/>
        <c:axId val="83994954"/>
        <c:axId val="20087853"/>
      </c:barChart>
      <c:catAx>
        <c:axId val="839949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20087853"/>
        <c:crosses val="autoZero"/>
        <c:auto val="1"/>
        <c:lblAlgn val="ctr"/>
        <c:lblOffset val="100"/>
        <c:noMultiLvlLbl val="0"/>
      </c:catAx>
      <c:valAx>
        <c:axId val="20087853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839949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12263a"/>
              </a:solidFill>
              <a:uFillTx/>
              <a:latin typeface="Arial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نسبة الرسوب حسب ساعات المذاكرة اليومية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spPr>
            <a:solidFill>
              <a:srgbClr val="d64545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0–1</c:v>
                </c:pt>
                <c:pt idx="1">
                  <c:v>1–2</c:v>
                </c:pt>
                <c:pt idx="2">
                  <c:v>2–3</c:v>
                </c:pt>
                <c:pt idx="3">
                  <c:v>3–4</c:v>
                </c:pt>
                <c:pt idx="4">
                  <c:v>4–5</c:v>
                </c:pt>
                <c:pt idx="5">
                  <c:v>5+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39.2</c:v>
                </c:pt>
                <c:pt idx="1">
                  <c:v>31.8</c:v>
                </c:pt>
                <c:pt idx="2">
                  <c:v>24.3</c:v>
                </c:pt>
                <c:pt idx="3">
                  <c:v>17.8</c:v>
                </c:pt>
                <c:pt idx="4">
                  <c:v>12.5</c:v>
                </c:pt>
                <c:pt idx="5">
                  <c:v>6.6</c:v>
                </c:pt>
              </c:numCache>
            </c:numRef>
          </c:val>
        </c:ser>
        <c:gapWidth val="60"/>
        <c:overlap val="0"/>
        <c:axId val="80087473"/>
        <c:axId val="73047963"/>
      </c:barChart>
      <c:catAx>
        <c:axId val="8008747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73047963"/>
        <c:crosses val="autoZero"/>
        <c:auto val="1"/>
        <c:lblAlgn val="ctr"/>
        <c:lblOffset val="100"/>
        <c:noMultiLvlLbl val="0"/>
      </c:catAx>
      <c:valAx>
        <c:axId val="73047963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8008747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الرسوب حسب نسبة الحضور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spPr>
            <a:solidFill>
              <a:srgbClr val="d64545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&lt;60%</c:v>
                </c:pt>
                <c:pt idx="1">
                  <c:v>60–70</c:v>
                </c:pt>
                <c:pt idx="2">
                  <c:v>70–80</c:v>
                </c:pt>
                <c:pt idx="3">
                  <c:v>80–90</c:v>
                </c:pt>
                <c:pt idx="4">
                  <c:v>90–100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47.7</c:v>
                </c:pt>
                <c:pt idx="1">
                  <c:v>34.4</c:v>
                </c:pt>
                <c:pt idx="2">
                  <c:v>28.1</c:v>
                </c:pt>
                <c:pt idx="3">
                  <c:v>22.1</c:v>
                </c:pt>
                <c:pt idx="4">
                  <c:v>16.6</c:v>
                </c:pt>
              </c:numCache>
            </c:numRef>
          </c:val>
        </c:ser>
        <c:gapWidth val="60"/>
        <c:overlap val="0"/>
        <c:axId val="48891210"/>
        <c:axId val="2357493"/>
      </c:barChart>
      <c:catAx>
        <c:axId val="4889121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2357493"/>
        <c:crosses val="autoZero"/>
        <c:auto val="1"/>
        <c:lblAlgn val="ctr"/>
        <c:lblOffset val="100"/>
        <c:noMultiLvlLbl val="0"/>
      </c:catAx>
      <c:valAx>
        <c:axId val="2357493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4889121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الرسوب حسب ساعات النوم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spPr>
            <a:solidFill>
              <a:srgbClr val="f2a541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&lt;5</c:v>
                </c:pt>
                <c:pt idx="1">
                  <c:v>5–6</c:v>
                </c:pt>
                <c:pt idx="2">
                  <c:v>6–7</c:v>
                </c:pt>
                <c:pt idx="3">
                  <c:v>7–8</c:v>
                </c:pt>
                <c:pt idx="4">
                  <c:v>8+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33.7</c:v>
                </c:pt>
                <c:pt idx="1">
                  <c:v>28.7</c:v>
                </c:pt>
                <c:pt idx="2">
                  <c:v>24.2</c:v>
                </c:pt>
                <c:pt idx="3">
                  <c:v>20.6</c:v>
                </c:pt>
                <c:pt idx="4">
                  <c:v>15.9</c:v>
                </c:pt>
              </c:numCache>
            </c:numRef>
          </c:val>
        </c:ser>
        <c:gapWidth val="60"/>
        <c:overlap val="0"/>
        <c:axId val="18745585"/>
        <c:axId val="96937930"/>
      </c:barChart>
      <c:catAx>
        <c:axId val="1874558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96937930"/>
        <c:crosses val="autoZero"/>
        <c:auto val="1"/>
        <c:lblAlgn val="ctr"/>
        <c:lblOffset val="100"/>
        <c:noMultiLvlLbl val="0"/>
      </c:catAx>
      <c:valAx>
        <c:axId val="96937930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1874558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نسبة الرسوب حسب صعوبة الامتحان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spPr>
            <a:solidFill>
              <a:srgbClr val="2e9e6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9e6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2a541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d64545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2263a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2263a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2263a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سهل</c:v>
                </c:pt>
                <c:pt idx="1">
                  <c:v>متوسط</c:v>
                </c:pt>
                <c:pt idx="2">
                  <c:v>صعب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9.8</c:v>
                </c:pt>
                <c:pt idx="1">
                  <c:v>21.1</c:v>
                </c:pt>
                <c:pt idx="2">
                  <c:v>38.4</c:v>
                </c:pt>
              </c:numCache>
            </c:numRef>
          </c:val>
        </c:ser>
        <c:gapWidth val="60"/>
        <c:overlap val="0"/>
        <c:axId val="67636034"/>
        <c:axId val="95461238"/>
      </c:barChart>
      <c:catAx>
        <c:axId val="676360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95461238"/>
        <c:crosses val="autoZero"/>
        <c:auto val="1"/>
        <c:lblAlgn val="ctr"/>
        <c:lblOffset val="100"/>
        <c:noMultiLvlLbl val="0"/>
      </c:catAx>
      <c:valAx>
        <c:axId val="95461238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676360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400" b="0" u="none" strike="noStrike">
                <a:solidFill>
                  <a:srgbClr val="0b3c5d"/>
                </a:solidFill>
                <a:uFillTx/>
                <a:latin typeface="Arial"/>
              </a:rPr>
              <a:t>مقارنة جهد المذاكرة (المتوسط)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كان 80+ ورسب حاليًا</c:v>
                </c:pt>
              </c:strCache>
            </c:strRef>
          </c:tx>
          <c:spPr>
            <a:solidFill>
              <a:srgbClr val="d64545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ساعات المذاكرة يوميًا</c:v>
                </c:pt>
                <c:pt idx="1">
                  <c:v>اختبارات تدريبية مكتملة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1.96</c:v>
                </c:pt>
                <c:pt idx="1">
                  <c:v>4.01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متفوق حاليًا (80+)</c:v>
                </c:pt>
              </c:strCache>
            </c:strRef>
          </c:tx>
          <c:spPr>
            <a:solidFill>
              <a:srgbClr val="2e9e6b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2263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ساعات المذاكرة يوميًا</c:v>
                </c:pt>
                <c:pt idx="1">
                  <c:v>اختبارات تدريبية مكتملة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4.24</c:v>
                </c:pt>
                <c:pt idx="1">
                  <c:v>6.99</c:v>
                </c:pt>
              </c:numCache>
            </c:numRef>
          </c:val>
        </c:ser>
        <c:gapWidth val="60"/>
        <c:overlap val="0"/>
        <c:axId val="28892159"/>
        <c:axId val="75998433"/>
      </c:barChart>
      <c:catAx>
        <c:axId val="288921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75998433"/>
        <c:crosses val="autoZero"/>
        <c:auto val="1"/>
        <c:lblAlgn val="ctr"/>
        <c:lblOffset val="100"/>
        <c:noMultiLvlLbl val="0"/>
      </c:catAx>
      <c:valAx>
        <c:axId val="75998433"/>
        <c:scaling>
          <c:orientation val="minMax"/>
        </c:scaling>
        <c:delete val="0"/>
        <c:axPos val="l"/>
        <c:majorGridlines>
          <c:spPr>
            <a:ln w="6480">
              <a:solidFill>
                <a:srgbClr val="dde5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5b6b7a"/>
                </a:solidFill>
                <a:uFillTx/>
                <a:latin typeface="Arial"/>
              </a:defRPr>
            </a:pPr>
          </a:p>
        </c:txPr>
        <c:crossAx val="2889215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12263a"/>
              </a:solidFill>
              <a:uFillTx/>
              <a:latin typeface="Arial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4B0759-CAA4-4B1E-B9C4-1F2F26FC22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662EE7-615B-43E3-8575-9E057EA8E1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2ED3D6-C9FC-4F6B-8945-1EB65046DF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A3E949-10E2-4B1F-B1B5-AAB8ADC1BB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93BBFA-6F24-4B56-9970-9D129D4095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1D26A-62AE-4CE7-A805-C3CDD31C0E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3A6D28-6B2E-48C6-86CA-F152D419B1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27B02-2E78-4E5A-9B05-3163B2D3A7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8A06B-E552-4066-BB4A-F27D6AEEB4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F60D45-8C1A-417B-AEB4-152F9D8680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CC924-769C-4128-BA54-44159EDAF8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2FC980-389B-4CC3-9113-4DF76D2F08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0DC6B0-16D9-417E-B9AD-98729286C1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F2794-58DA-46D2-B05F-EBEB8986AB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31520" y="201168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46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تحليل أداء الطلاب في الامتحانات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320040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Student Exam Performance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411480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600" b="0" u="none" strike="noStrike">
                <a:solidFill>
                  <a:srgbClr val="cadcfc"/>
                </a:solidFill>
                <a:effectLst/>
                <a:uFillTx/>
                <a:latin typeface="Arial"/>
                <a:cs typeface="Arial"/>
              </a:rPr>
              <a:t>مشروع تحليل بيانات | 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100,000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 طالب × 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44</a:t>
            </a: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 عمود | إعداد: مينا نسيم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عن البيانات ومسار التحليل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ard"/>
          <p:cNvSpPr/>
          <p:nvPr/>
        </p:nvSpPr>
        <p:spPr>
          <a:xfrm>
            <a:off x="8869680" y="1463040"/>
            <a:ext cx="274284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869680" y="16459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100,000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9052560" y="25146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طالب في الداتا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ard"/>
          <p:cNvSpPr/>
          <p:nvPr/>
        </p:nvSpPr>
        <p:spPr>
          <a:xfrm>
            <a:off x="5943600" y="1463040"/>
            <a:ext cx="274284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5943600" y="16459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44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126480" y="25146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عمود (ديموغرافيا، مذاكرة، نوم، امتحان)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rd"/>
          <p:cNvSpPr/>
          <p:nvPr/>
        </p:nvSpPr>
        <p:spPr>
          <a:xfrm>
            <a:off x="3017520" y="1463040"/>
            <a:ext cx="274284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3017520" y="16459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2e9e6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3200400" y="25146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صفوف مكررة أو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IDs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 مكررة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ard"/>
          <p:cNvSpPr/>
          <p:nvPr/>
        </p:nvSpPr>
        <p:spPr>
          <a:xfrm>
            <a:off x="548640" y="1463040"/>
            <a:ext cx="219420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548640" y="1645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d64545"/>
                </a:solidFill>
                <a:effectLst/>
                <a:uFillTx/>
                <a:latin typeface="Arial"/>
                <a:ea typeface="Arial"/>
              </a:rPr>
              <a:t>22.6%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731520" y="251460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نسبة الرسوب (أقل من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50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 درجة)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ard"/>
          <p:cNvSpPr/>
          <p:nvPr/>
        </p:nvSpPr>
        <p:spPr>
          <a:xfrm>
            <a:off x="8869680" y="3749040"/>
            <a:ext cx="2742840" cy="137124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10881360" y="3931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9052560" y="45720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6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فهم البيانات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card"/>
          <p:cNvSpPr/>
          <p:nvPr/>
        </p:nvSpPr>
        <p:spPr>
          <a:xfrm>
            <a:off x="6035040" y="3749040"/>
            <a:ext cx="2742840" cy="137124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8046720" y="3931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6217920" y="45720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6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التنظيف والمعالجة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card"/>
          <p:cNvSpPr/>
          <p:nvPr/>
        </p:nvSpPr>
        <p:spPr>
          <a:xfrm>
            <a:off x="3137760" y="3749040"/>
            <a:ext cx="2742840" cy="137124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185440" y="3931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3428640" y="45720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6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التوصيات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54864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2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المصدر: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Kaggle – Student Exam Performance &amp; Success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جودة البيانات: القيم المفقودة وطريقة المعالجة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Table 0"/>
          <p:cNvGraphicFramePr/>
          <p:nvPr/>
        </p:nvGraphicFramePr>
        <p:xfrm>
          <a:off x="548640" y="1463040"/>
          <a:ext cx="11063880" cy="3657600"/>
        </p:xfrm>
        <a:graphic>
          <a:graphicData uri="http://schemas.openxmlformats.org/drawingml/2006/table">
            <a:tbl>
              <a:tblPr/>
              <a:tblGrid>
                <a:gridCol w="4663440"/>
                <a:gridCol w="2011680"/>
                <a:gridCol w="43891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طريقة المعالجة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نسبة المفقود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العمود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الوسيط (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79.0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)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9.61%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time_management_score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الوسيط (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84.75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)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9.86%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attendance_percentage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فئة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Unknown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8.41%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notes_quality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الوسيط (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2.78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)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7.79%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previous_gpa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فئة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Unknown + </a:t>
                      </a: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عمود جديد من ساعات النوم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6.99%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sleep_quality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فئة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Unknown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6.53%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parent_education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فئة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Unknown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2.97%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5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device_availability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Text 1"/>
          <p:cNvSpPr/>
          <p:nvPr/>
        </p:nvSpPr>
        <p:spPr>
          <a:xfrm>
            <a:off x="54864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2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بعد المعالجة: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قيم مفقودة في كل الأعمدة | الأعمدة الرقمية بالوسيط لتجنب تأثير القيم المتطرفة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الصورة العامة: </a:t>
            </a: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77</a:t>
            </a: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% نجحوا و</a:t>
            </a: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22.6</a:t>
            </a: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% رسبوا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" name="Chart 0"/>
          <p:cNvGraphicFramePr/>
          <p:nvPr/>
        </p:nvGraphicFramePr>
        <p:xfrm>
          <a:off x="548640" y="1371600"/>
          <a:ext cx="502884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card"/>
          <p:cNvSpPr/>
          <p:nvPr/>
        </p:nvSpPr>
        <p:spPr>
          <a:xfrm>
            <a:off x="6035040" y="1554480"/>
            <a:ext cx="274284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6035040" y="17373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61.95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6217920" y="26060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متوسط درجة الامتحان الحالي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card"/>
          <p:cNvSpPr/>
          <p:nvPr/>
        </p:nvSpPr>
        <p:spPr>
          <a:xfrm>
            <a:off x="8869680" y="1554480"/>
            <a:ext cx="2742840" cy="1737000"/>
          </a:xfrm>
          <a:prstGeom prst="roundRect">
            <a:avLst>
              <a:gd name="adj" fmla="val 631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8869680" y="17373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69.53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9052560" y="26060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متوسط درجة الامتحان السابق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card"/>
          <p:cNvSpPr/>
          <p:nvPr/>
        </p:nvSpPr>
        <p:spPr>
          <a:xfrm>
            <a:off x="6035040" y="3566160"/>
            <a:ext cx="5577480" cy="219420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263640" y="3794760"/>
            <a:ext cx="5120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8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الدرجات تراجعت بحوالي 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7.6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درجة عن العام السابق. الناجحون 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77,389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طالبًا والراسبون 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22,611</a:t>
            </a:r>
            <a:r>
              <a:rPr lang="en-US" sz="18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طالبًا.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توزيع الدرجات: السابق مقابل الحالي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0" name="Chart 0"/>
          <p:cNvGraphicFramePr/>
          <p:nvPr/>
        </p:nvGraphicFramePr>
        <p:xfrm>
          <a:off x="548640" y="1371600"/>
          <a:ext cx="722340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1" name="card"/>
          <p:cNvSpPr/>
          <p:nvPr/>
        </p:nvSpPr>
        <p:spPr>
          <a:xfrm>
            <a:off x="7955280" y="1463040"/>
            <a:ext cx="3657240" cy="4480200"/>
          </a:xfrm>
          <a:prstGeom prst="roundRect">
            <a:avLst>
              <a:gd name="adj" fmla="val 3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8183880" y="16916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ماذا حدث؟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8183880" y="2331720"/>
            <a:ext cx="3200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فئة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80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انخفضت 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61.9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إلى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42.0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فئة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80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100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انخفضت 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17.5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إلى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11.9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فئة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40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60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تضاعفت تقريبًا 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19.7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إلى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36.8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ساعات المذاكرة: كل ساعة إضافية تقلل الرسوب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Chart 0"/>
          <p:cNvGraphicFramePr/>
          <p:nvPr/>
        </p:nvGraphicFramePr>
        <p:xfrm>
          <a:off x="548640" y="1371600"/>
          <a:ext cx="722340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6" name="card"/>
          <p:cNvSpPr/>
          <p:nvPr/>
        </p:nvSpPr>
        <p:spPr>
          <a:xfrm>
            <a:off x="7955280" y="1463040"/>
            <a:ext cx="3657240" cy="4480200"/>
          </a:xfrm>
          <a:prstGeom prst="roundRect">
            <a:avLst>
              <a:gd name="adj" fmla="val 3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8183880" y="16916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الخلاصة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8183880" y="2331720"/>
            <a:ext cx="3200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الرسوب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39.2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عند أقل من ساعة، وينزل إلى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6.6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عند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ساعات أو أكثر.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متوسط الدرجة يرتفع 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53.7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إلى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73.1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ساعات فصاعدًا الرسوب أقل من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الحضور والنوم: عاملان مؤثران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Chart 0"/>
          <p:cNvGraphicFramePr/>
          <p:nvPr/>
        </p:nvGraphicFramePr>
        <p:xfrm>
          <a:off x="548640" y="1371600"/>
          <a:ext cx="548604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1" name="Chart 1"/>
          <p:cNvGraphicFramePr/>
          <p:nvPr/>
        </p:nvGraphicFramePr>
        <p:xfrm>
          <a:off x="6217920" y="1371600"/>
          <a:ext cx="53946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2" name="Text 1"/>
          <p:cNvSpPr/>
          <p:nvPr/>
        </p:nvSpPr>
        <p:spPr>
          <a:xfrm>
            <a:off x="548640" y="5760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2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الرسوب ينخفض من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47.7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إلى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16.6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مع الحضور، ومن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33.7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إلى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15.9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مع النوم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 ساعات فأكثر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صعوبة الامتحان: أكبر فجوة في النتائج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Chart 0"/>
          <p:cNvGraphicFramePr/>
          <p:nvPr/>
        </p:nvGraphicFramePr>
        <p:xfrm>
          <a:off x="548640" y="1371600"/>
          <a:ext cx="722340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5" name="card"/>
          <p:cNvSpPr/>
          <p:nvPr/>
        </p:nvSpPr>
        <p:spPr>
          <a:xfrm>
            <a:off x="7955280" y="1463040"/>
            <a:ext cx="3657240" cy="4480200"/>
          </a:xfrm>
          <a:prstGeom prst="roundRect">
            <a:avLst>
              <a:gd name="adj" fmla="val 3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8183880" y="16916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الخلاصة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8183880" y="2331720"/>
            <a:ext cx="3200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الرسوب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9.8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في الامتحانات السهلة مقابل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38.4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في الصعبة.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متوسط الدرجة 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69.4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في السهل و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54.4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في الصعب.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يجب مراعاة صعوبة الامتحان عند مقارنة النتائج.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الدرجة السابقة ودخل الأسرة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rd"/>
          <p:cNvSpPr/>
          <p:nvPr/>
        </p:nvSpPr>
        <p:spPr>
          <a:xfrm>
            <a:off x="6309360" y="1463040"/>
            <a:ext cx="5303160" cy="4205880"/>
          </a:xfrm>
          <a:prstGeom prst="roundRect">
            <a:avLst>
              <a:gd name="adj" fmla="val 2609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537960" y="16459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الدرجة السابقة: أقوى مؤشر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8869680" y="237744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d64545"/>
                </a:solidFill>
                <a:effectLst/>
                <a:uFillTx/>
                <a:latin typeface="Arial"/>
                <a:ea typeface="Arial"/>
              </a:rPr>
              <a:t>63.6%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8869680" y="320040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رسوب من كان أقل من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6492240" y="237744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2e9e6b"/>
                </a:solidFill>
                <a:effectLst/>
                <a:uFillTx/>
                <a:latin typeface="Arial"/>
                <a:ea typeface="Arial"/>
              </a:rPr>
              <a:t>4.9%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6492240" y="320040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رسوب من كان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80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 فأكثر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537960" y="420624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الأداء السابق يتنبأ بالنتيجة الحالية أكثر من أي عامل آخر.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rd"/>
          <p:cNvSpPr/>
          <p:nvPr/>
        </p:nvSpPr>
        <p:spPr>
          <a:xfrm>
            <a:off x="548640" y="1463040"/>
            <a:ext cx="5303160" cy="4205880"/>
          </a:xfrm>
          <a:prstGeom prst="roundRect">
            <a:avLst>
              <a:gd name="adj" fmla="val 2609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777240" y="16459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دخل الأسرة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3108960" y="237744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d64545"/>
                </a:solidFill>
                <a:effectLst/>
                <a:uFillTx/>
                <a:latin typeface="Arial"/>
                <a:ea typeface="Arial"/>
              </a:rPr>
              <a:t>28.3%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3108960" y="320040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رسوب الدخل المنخفض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731520" y="237744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2e9e6b"/>
                </a:solidFill>
                <a:effectLst/>
                <a:uFillTx/>
                <a:latin typeface="Arial"/>
                <a:ea typeface="Arial"/>
              </a:rPr>
              <a:t>16.4%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731520" y="320040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4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رسوب الدخل المرتفع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عوامل لم تُظهر تأثيرًا واضحًا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548640" y="1463040"/>
          <a:ext cx="11063880" cy="3803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نسبة الرسوب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العامل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solidFill>
                      <a:srgbClr val="0b3c5d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22.6–23.6%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النوع (ذكر / أنثى / آخر)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22.4–23.3%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نوع المدرسة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22.5–22.9%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حضر / ريف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22.0–23.0%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تعليم الوالدين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22.6–23.1%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إتاحة الإنترنت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22.5–22.8%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استخدام التطبيقات التعليمية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22.4–22.7%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hi-IN" sz="1600" b="0" u="none" strike="noStrike">
                          <a:solidFill>
                            <a:srgbClr val="12263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الدروس الخصوصية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dde5ec"/>
                      </a:solidFill>
                      <a:prstDash val="solid"/>
                    </a:lnL>
                    <a:lnR w="9360">
                      <a:solidFill>
                        <a:srgbClr val="dde5ec"/>
                      </a:solidFill>
                      <a:prstDash val="solid"/>
                    </a:lnR>
                    <a:lnT w="9360">
                      <a:solidFill>
                        <a:srgbClr val="dde5ec"/>
                      </a:solidFill>
                      <a:prstDash val="solid"/>
                    </a:lnT>
                    <a:lnB w="9360">
                      <a:solidFill>
                        <a:srgbClr val="dde5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" name="Text 1"/>
          <p:cNvSpPr/>
          <p:nvPr/>
        </p:nvSpPr>
        <p:spPr>
          <a:xfrm>
            <a:off x="54864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2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كل النسب قريبة من المتوسط العام (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22.6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%)، فالفروق محدودة ولا تفسر الرسوب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875</a:t>
            </a:r>
            <a:r>
              <a:rPr lang="en-US" sz="32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 طالبًا كانوا متفوقين ورسبوا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Chart 0"/>
          <p:cNvGraphicFramePr/>
          <p:nvPr/>
        </p:nvGraphicFramePr>
        <p:xfrm>
          <a:off x="548640" y="1371600"/>
          <a:ext cx="722340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7" name="card"/>
          <p:cNvSpPr/>
          <p:nvPr/>
        </p:nvSpPr>
        <p:spPr>
          <a:xfrm>
            <a:off x="7955280" y="1463040"/>
            <a:ext cx="3657240" cy="4480200"/>
          </a:xfrm>
          <a:prstGeom prst="roundRect">
            <a:avLst>
              <a:gd name="adj" fmla="val 3000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8183880" y="16916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0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لماذا رسبوا؟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8183880" y="2331720"/>
            <a:ext cx="3200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53.8%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منهم في امتحانات صعبة، و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40.9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متوسطة، و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5.3</a:t>
            </a:r>
            <a:r>
              <a:rPr lang="en-US" sz="16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فقط سهلة.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hi-IN" sz="16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ذاكروا أقل من المتفوقين بأكثر من النصف، وأنجزوا اختبارات تدريبية أقل.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0b3c5d"/>
                </a:solidFill>
                <a:effectLst/>
                <a:uFillTx/>
                <a:latin typeface="Arial"/>
                <a:cs typeface="Arial"/>
              </a:rPr>
              <a:t>التوصيات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rd"/>
          <p:cNvSpPr/>
          <p:nvPr/>
        </p:nvSpPr>
        <p:spPr>
          <a:xfrm>
            <a:off x="7955280" y="146304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10789920" y="1645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8183880" y="237744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برامج توعية لزيادة ساعات المذاكرة اليومية بشكل تدريجي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rd"/>
          <p:cNvSpPr/>
          <p:nvPr/>
        </p:nvSpPr>
        <p:spPr>
          <a:xfrm>
            <a:off x="4251960" y="146304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7086600" y="1645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4480560" y="237744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متابعة الحضور مبكرًا ومنح حوافز لمن يتجاوز 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90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rd"/>
          <p:cNvSpPr/>
          <p:nvPr/>
        </p:nvSpPr>
        <p:spPr>
          <a:xfrm>
            <a:off x="548640" y="146304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3383280" y="16459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777240" y="237744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التوعية بعادات النوم الجيدة (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7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 ساعات فأكثر)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rd"/>
          <p:cNvSpPr/>
          <p:nvPr/>
        </p:nvSpPr>
        <p:spPr>
          <a:xfrm>
            <a:off x="7955280" y="384048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10789920" y="402336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8183880" y="475488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دعم الطلاب الأقل دخلًا لتحقيق تكافؤ الفرص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rd"/>
          <p:cNvSpPr/>
          <p:nvPr/>
        </p:nvSpPr>
        <p:spPr>
          <a:xfrm>
            <a:off x="4251960" y="384048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7086600" y="402336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4480560" y="475488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تشجيع الاختبارات التدريبية للطلاب المتفوقين سابقًا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rd"/>
          <p:cNvSpPr/>
          <p:nvPr/>
        </p:nvSpPr>
        <p:spPr>
          <a:xfrm>
            <a:off x="548640" y="3840480"/>
            <a:ext cx="3611520" cy="2148480"/>
          </a:xfrm>
          <a:prstGeom prst="roundRect">
            <a:avLst>
              <a:gd name="adj" fmla="val 5106"/>
            </a:avLst>
          </a:prstGeom>
          <a:solidFill>
            <a:srgbClr val="eaf1f6"/>
          </a:solidFill>
          <a:ln w="12700">
            <a:solidFill>
              <a:srgbClr val="eaf1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3383280" y="402336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2a541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777240" y="475488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u="none" strike="noStrike">
                <a:solidFill>
                  <a:srgbClr val="12263a"/>
                </a:solidFill>
                <a:effectLst/>
                <a:uFillTx/>
                <a:latin typeface="Arial"/>
                <a:cs typeface="Arial"/>
              </a:rPr>
              <a:t>برامج لخفض التوتر وقلق الامتحان (الرسوب 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24.2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% عند مستوى 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10</a:t>
            </a:r>
            <a:r>
              <a:rPr lang="en-US" sz="1500" b="0" u="none" strike="noStrike">
                <a:solidFill>
                  <a:srgbClr val="12263a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9"/>
          <p:cNvSpPr/>
          <p:nvPr/>
        </p:nvSpPr>
        <p:spPr>
          <a:xfrm>
            <a:off x="54864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200" b="0" u="none" strike="noStrike">
                <a:solidFill>
                  <a:srgbClr val="5b6b7a"/>
                </a:solidFill>
                <a:effectLst/>
                <a:uFillTx/>
                <a:latin typeface="Arial"/>
                <a:cs typeface="Arial"/>
              </a:rPr>
              <a:t>تنبيه: الدروس الخصوصية لا تُظهر فرقًا يُذكر في نسبة الرسوب (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22.7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 مقابل 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22.4</a:t>
            </a:r>
            <a:r>
              <a:rPr lang="en-US" sz="1200" b="0" u="none" strike="noStrike">
                <a:solidFill>
                  <a:srgbClr val="5b6b7a"/>
                </a:solidFill>
                <a:effectLst/>
                <a:uFillTx/>
                <a:latin typeface="Arial"/>
                <a:ea typeface="Arial"/>
              </a:rPr>
              <a:t>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32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الخلاصة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msg"/>
          <p:cNvSpPr/>
          <p:nvPr/>
        </p:nvSpPr>
        <p:spPr>
          <a:xfrm>
            <a:off x="548640" y="1554480"/>
            <a:ext cx="11063880" cy="1325520"/>
          </a:xfrm>
          <a:prstGeom prst="roundRect">
            <a:avLst>
              <a:gd name="adj" fmla="val 8276"/>
            </a:avLst>
          </a:prstGeom>
          <a:solidFill>
            <a:srgbClr val="18507a"/>
          </a:solidFill>
          <a:ln w="12700">
            <a:solidFill>
              <a:srgbClr val="185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22960" y="17373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200" b="1" u="none" strike="noStrike">
                <a:solidFill>
                  <a:srgbClr val="f2a541"/>
                </a:solidFill>
                <a:effectLst/>
                <a:uFillTx/>
                <a:latin typeface="Arial"/>
                <a:cs typeface="Arial"/>
              </a:rPr>
              <a:t>الأداء السابق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822960" y="22860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700" b="0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أقوى مؤشر على النتيجة الحالية (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63.6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% مقابل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4.9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% رسوب)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msg"/>
          <p:cNvSpPr/>
          <p:nvPr/>
        </p:nvSpPr>
        <p:spPr>
          <a:xfrm>
            <a:off x="548640" y="3108960"/>
            <a:ext cx="11063880" cy="1325520"/>
          </a:xfrm>
          <a:prstGeom prst="roundRect">
            <a:avLst>
              <a:gd name="adj" fmla="val 8276"/>
            </a:avLst>
          </a:prstGeom>
          <a:solidFill>
            <a:srgbClr val="18507a"/>
          </a:solidFill>
          <a:ln w="12700">
            <a:solidFill>
              <a:srgbClr val="185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822960" y="32918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200" b="1" u="none" strike="noStrike">
                <a:solidFill>
                  <a:srgbClr val="f2a541"/>
                </a:solidFill>
                <a:effectLst/>
                <a:uFillTx/>
                <a:latin typeface="Arial"/>
                <a:cs typeface="Arial"/>
              </a:rPr>
              <a:t>المذاكرة والحضور والنوم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822960" y="3840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700" b="0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عوامل يمكن التأثير فيها وتخفض الرسوب بوضوح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msg"/>
          <p:cNvSpPr/>
          <p:nvPr/>
        </p:nvSpPr>
        <p:spPr>
          <a:xfrm>
            <a:off x="548640" y="4663440"/>
            <a:ext cx="11063880" cy="1325520"/>
          </a:xfrm>
          <a:prstGeom prst="roundRect">
            <a:avLst>
              <a:gd name="adj" fmla="val 8276"/>
            </a:avLst>
          </a:prstGeom>
          <a:solidFill>
            <a:srgbClr val="18507a"/>
          </a:solidFill>
          <a:ln w="12700">
            <a:solidFill>
              <a:srgbClr val="185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822960" y="48463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2200" b="1" u="none" strike="noStrike">
                <a:solidFill>
                  <a:srgbClr val="f2a541"/>
                </a:solidFill>
                <a:effectLst/>
                <a:uFillTx/>
                <a:latin typeface="Arial"/>
                <a:cs typeface="Arial"/>
              </a:rPr>
              <a:t>العوامل الديموغرافية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822960" y="5394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700" b="0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النوع والموقع ونوع المدرسة لا تفسر الفروق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xam">
  <a:themeElements>
    <a:clrScheme name="Exam">
      <a:dk1>
        <a:srgbClr val="12263a"/>
      </a:dk1>
      <a:lt1>
        <a:srgbClr val="ffffff"/>
      </a:lt1>
      <a:dk2>
        <a:srgbClr val="0b3c5d"/>
      </a:dk2>
      <a:lt2>
        <a:srgbClr val="eaf1f6"/>
      </a:lt2>
      <a:accent1>
        <a:srgbClr val="0b3c5d"/>
      </a:accent1>
      <a:accent2>
        <a:srgbClr val="f2a541"/>
      </a:accent2>
      <a:accent3>
        <a:srgbClr val="d64545"/>
      </a:accent3>
      <a:accent4>
        <a:srgbClr val="2e9e6b"/>
      </a:accent4>
      <a:accent5>
        <a:srgbClr val="5b8db8"/>
      </a:accent5>
      <a:accent6>
        <a:srgbClr val="8a99a8"/>
      </a:accent6>
      <a:hlink>
        <a:srgbClr val="0b3c5d"/>
      </a:hlink>
      <a:folHlink>
        <a:srgbClr val="8a99a8"/>
      </a:folHlink>
    </a:clrScheme>
    <a:fontScheme name="Exam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1Doc/1.5.0.$MacOSX_AARCH64 LibreOffice_project/f18819df7036044a2e6bdd6066c92aabef81c661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2026-10-06T19:57:37Z</dcterms:created>
  <dc:creator>PptxGenJS</dc:creator>
  <dc:description/>
  <dc:language>en-US</dc:language>
  <cp:lastModifiedBy/>
  <dcterms:modified xsi:type="dcterms:W3CDTF">2026-10-06T23:11:57Z</dcterms:modified>
  <cp:revision>2</cp:revision>
  <dc:subject>PptxGenJS Presentation</dc:subject>
  <dc:title>تحليل أداء الطلاب في الامتحانات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